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57047" y="732949"/>
            <a:ext cx="10677906" cy="267176"/>
            <a:chOff x="757047" y="732949"/>
            <a:chExt cx="10677906" cy="267176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732949"/>
              <a:ext cx="1988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文章精读 · A READING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9906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36084" y="732949"/>
              <a:ext cx="1598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OPEN SOURCE · MIT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4850" y="1928812"/>
            <a:ext cx="10487978" cy="2631758"/>
            <a:chOff x="704850" y="1928812"/>
            <a:chExt cx="10487978" cy="2631758"/>
          </a:xfrm>
        </p:grpSpPr>
        <p:sp>
          <p:nvSpPr>
            <p:cNvPr id="9" name="TextBox 9"/>
            <p:cNvSpPr txBox="1"/>
            <p:nvPr/>
          </p:nvSpPr>
          <p:spPr>
            <a:xfrm>
              <a:off x="704850" y="1928812"/>
              <a:ext cx="10487978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50" b="1" spc="3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PPT Master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3512820"/>
              <a:ext cx="842858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让 AI 生成</a:t>
              </a:r>
              <a:r>
                <a:rPr lang="zh-Hans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原生</a:t>
              </a:r>
              <a:r>
                <a:rPr lang="zh-Hans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幻灯片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4629150"/>
            <a:ext cx="6736472" cy="704850"/>
            <a:chOff x="762000" y="4629150"/>
            <a:chExt cx="6736472" cy="704850"/>
          </a:xfrm>
        </p:grpSpPr>
        <p:sp>
          <p:nvSpPr>
            <p:cNvPr id="12" name="Line 12"/>
            <p:cNvSpPr/>
            <p:nvPr/>
          </p:nvSpPr>
          <p:spPr>
            <a:xfrm>
              <a:off x="762000" y="46291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2980" y="4752975"/>
              <a:ext cx="5069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把任意文档或主题，变成一份真正可编辑的 PowerPoint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885" y="5098256"/>
              <a:ext cx="6513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spc="75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Native PowerPoint from any document — masters, shapes, charts, all editable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7047" y="6057900"/>
            <a:ext cx="10677906" cy="428339"/>
            <a:chOff x="757047" y="6057900"/>
            <a:chExt cx="10677906" cy="428339"/>
          </a:xfrm>
        </p:grpSpPr>
        <p:sp>
          <p:nvSpPr>
            <p:cNvPr id="16" name="Line 16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7047" y="6295549"/>
              <a:ext cx="2416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75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github.com/hugohe3/ppt-master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01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7047" y="1037749"/>
            <a:ext cx="2107519" cy="267176"/>
            <a:chOff x="757047" y="1037749"/>
            <a:chExt cx="2107519" cy="267176"/>
          </a:xfrm>
        </p:grpSpPr>
        <p:sp>
          <p:nvSpPr>
            <p:cNvPr id="2" name="TextBox 2"/>
            <p:cNvSpPr txBox="1"/>
            <p:nvPr/>
          </p:nvSpPr>
          <p:spPr>
            <a:xfrm>
              <a:off x="757047" y="1037749"/>
              <a:ext cx="21075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核心主旨 · THE THESIS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762000" y="12954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6750" y="1219200"/>
            <a:ext cx="7686446" cy="2855595"/>
            <a:chOff x="666750" y="1219200"/>
            <a:chExt cx="7686446" cy="2855595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1219200"/>
              <a:ext cx="742188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0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2626995"/>
              <a:ext cx="586282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可编辑早已是及格线，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3312795"/>
              <a:ext cx="761024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真正拉开差距的是</a:t>
              </a:r>
              <a:r>
                <a:rPr lang="zh-Hans" sz="390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原生深度</a:t>
              </a:r>
              <a:r>
                <a:rPr lang="zh-Hans" sz="39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4305300"/>
            <a:ext cx="4986543" cy="1028700"/>
            <a:chOff x="762000" y="4305300"/>
            <a:chExt cx="4986543" cy="1028700"/>
          </a:xfrm>
        </p:grpSpPr>
        <p:sp>
          <p:nvSpPr>
            <p:cNvPr id="9" name="Line 9"/>
            <p:cNvSpPr/>
            <p:nvPr/>
          </p:nvSpPr>
          <p:spPr>
            <a:xfrm>
              <a:off x="762000" y="430530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742" y="4483418"/>
              <a:ext cx="4764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它交给你的是一份真正的 PowerPoint——母版、原生形状、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47691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数据驱动的图表与表格，而不是一堆扁平文本框，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742" y="50549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也不是套模板填空的结果。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7047" y="6057900"/>
            <a:ext cx="10677906" cy="428339"/>
            <a:chOff x="757047" y="6057900"/>
            <a:chExt cx="10677906" cy="428339"/>
          </a:xfrm>
        </p:grpSpPr>
        <p:sp>
          <p:nvSpPr>
            <p:cNvPr id="14" name="Line 14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7047" y="62955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先把逻辑理顺，再谈视觉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02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4373118" cy="1097280"/>
            <a:chOff x="746760" y="741045"/>
            <a:chExt cx="4373118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它想解决什么问题？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363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THE GAP BETWEEN "LOOKS DONE" AND "IS USABLE"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2381250"/>
            <a:ext cx="4953000" cy="3429000"/>
            <a:chOff x="762000" y="2381250"/>
            <a:chExt cx="49530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2381250"/>
              <a:ext cx="4953000" cy="3429000"/>
            </a:xfrm>
            <a:prstGeom prst="rect">
              <a:avLst/>
            </a:prstGeom>
            <a:solidFill>
              <a:srgbClr val="EAE3D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1560" y="2609850"/>
              <a:ext cx="4785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2194" y="2723198"/>
              <a:ext cx="26367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多数 AI PPT 工具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66800" y="31623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323" y="3500914"/>
              <a:ext cx="2563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导出的是一张改不动的静态图片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323" y="3900964"/>
              <a:ext cx="24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或只是模板里"填空"的文本框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323" y="430101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图表是贴上去的图，没有数据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323" y="470106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4A443C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数据要上传到平台，容易锁定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085" y="5231606"/>
              <a:ext cx="2082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rgbClr val="8A8378"/>
                  </a:solidFill>
                  <a:latin typeface="+mj-lt"/>
                  <a:ea typeface="+mj-ea"/>
                  <a:cs typeface="+mj-cs"/>
                </a:rPr>
                <a:t>好看，但拿到手很难继续改。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19800" y="2381250"/>
            <a:ext cx="5410200" cy="3429000"/>
            <a:chOff x="6019800" y="2381250"/>
            <a:chExt cx="5410200" cy="3429000"/>
          </a:xfrm>
        </p:grpSpPr>
        <p:sp>
          <p:nvSpPr>
            <p:cNvPr id="17" name="Rectangle 17"/>
            <p:cNvSpPr/>
            <p:nvPr/>
          </p:nvSpPr>
          <p:spPr>
            <a:xfrm>
              <a:off x="6019800" y="2381250"/>
              <a:ext cx="5410200" cy="34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9360" y="2609850"/>
              <a:ext cx="4785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09994" y="2723198"/>
              <a:ext cx="17582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PPT Master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324600" y="3162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8123" y="3500914"/>
              <a:ext cx="2227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E4DCCB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带母版与版式的原生 .pptx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8123" y="390096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E4DCCB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每个元素都是可编辑原生对象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8123" y="4301014"/>
              <a:ext cx="2589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E4DCCB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图表 / 表格是带数据的原生对象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8123" y="470106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E4DCCB"/>
                </a:buClr>
                <a:buSzTx/>
                <a:buFontTx/>
                <a:buChar char="•"/>
              </a:pPr>
              <a:r>
                <a:rPr lang="zh-Hans" sz="128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在你本机生成，数据不出本地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8885" y="5231606"/>
              <a:ext cx="2241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直接拿去讲，回头还能接着改。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830057" y="6295549"/>
            <a:ext cx="604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980" spc="150" dirty="0">
                <a:solidFill>
                  <a:srgbClr val="A8A093"/>
                </a:solidFill>
                <a:latin typeface="+mj-lt"/>
                <a:ea typeface="+mj-ea"/>
                <a:cs typeface="+mj-cs"/>
              </a:rPr>
              <a:t>03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4593946" cy="1097280"/>
            <a:chOff x="746760" y="741045"/>
            <a:chExt cx="4593946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31668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它是怎么工作的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584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A WORKFLOW THAT RUNS INSIDE ANY AGENTIC AI TOOL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2571750"/>
            <a:ext cx="10668000" cy="2190750"/>
            <a:chOff x="762000" y="2571750"/>
            <a:chExt cx="10668000" cy="2190750"/>
          </a:xfrm>
        </p:grpSpPr>
        <p:sp>
          <p:nvSpPr>
            <p:cNvPr id="7" name="Rectangle 7"/>
            <p:cNvSpPr/>
            <p:nvPr/>
          </p:nvSpPr>
          <p:spPr>
            <a:xfrm>
              <a:off x="762000" y="2571750"/>
              <a:ext cx="3048000" cy="2190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7750" y="2722245"/>
              <a:ext cx="67882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EAE3D4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7656" y="34061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给它材料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66800" y="37909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1085" y="4031456"/>
              <a:ext cx="1453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PDF、DOCX、网页，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1085" y="4279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或者只给一个主题。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572000" y="2571750"/>
              <a:ext cx="3048000" cy="2190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1C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57750" y="2722245"/>
              <a:ext cx="67882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EAE3D4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7656" y="3406140"/>
              <a:ext cx="2727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理逻辑 + 配视觉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876800" y="37909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71085" y="40314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提炼重点、规划叙事，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71085" y="42791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生成结构化页面与配图。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0" y="2571750"/>
              <a:ext cx="3048000" cy="2190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67750" y="2722245"/>
              <a:ext cx="67882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900" b="1" dirty="0">
                  <a:solidFill>
                    <a:srgbClr val="3A3530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7656" y="3406140"/>
              <a:ext cx="1913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导出原生 .pptx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686800" y="37909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rgbClr val="C7986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1085" y="40314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在本机生成一份可在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1085" y="4279106"/>
              <a:ext cx="1955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E4DCCB"/>
                  </a:solidFill>
                  <a:latin typeface="+mn-lt"/>
                  <a:ea typeface="+mn-ea"/>
                  <a:cs typeface="+mn-cs"/>
                </a:rPr>
                <a:t>PowerPoint 里继续改的稿。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15359" y="3567112"/>
              <a:ext cx="1988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5359" y="3567112"/>
              <a:ext cx="1988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5904" y="5356860"/>
            <a:ext cx="5629523" cy="234696"/>
            <a:chOff x="755904" y="5356860"/>
            <a:chExt cx="5629523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755904" y="5356860"/>
              <a:ext cx="5629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你不写任何代码，只做三件事：装 Python、装一个 AI 工具、把材料放进来。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6057900"/>
            <a:ext cx="10672953" cy="428339"/>
            <a:chOff x="762000" y="6057900"/>
            <a:chExt cx="10672953" cy="428339"/>
          </a:xfrm>
        </p:grpSpPr>
        <p:sp>
          <p:nvSpPr>
            <p:cNvPr id="30" name="Line 30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5003902" cy="1097280"/>
            <a:chOff x="746760" y="741045"/>
            <a:chExt cx="5003902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50039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"原生深度"到底给你什么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4585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A REAL POWERPOINT OBJECT MODEL — NOT A PICTURE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50570" y="2252662"/>
            <a:ext cx="10679430" cy="2544699"/>
            <a:chOff x="750570" y="2252662"/>
            <a:chExt cx="10679430" cy="2544699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225266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6479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3999" y="2801779"/>
              <a:ext cx="19038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原生形状与连接符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31251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带调节手柄，点开就能改，跟手绘的一样。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5570" y="225266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477000" y="26479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68999" y="2801779"/>
              <a:ext cx="23757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数据驱动的图表与表格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71666" y="31251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是带数据的原生对象，双击就能编辑数值。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3719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41148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999" y="4268629"/>
              <a:ext cx="19038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真正的母版与版式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4592002"/>
              <a:ext cx="3189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走模板路线时产出 sldMaster / sldLayout 继承。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5570" y="3719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rgbClr val="E0D8C8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77000" y="41148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8999" y="4268629"/>
              <a:ext cx="2735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完整的 PowerPoint 行为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45920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页间转场、入场动画、备注一键合成音频旁白。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5219700"/>
            <a:ext cx="11352375" cy="685800"/>
            <a:chOff x="762000" y="5219700"/>
            <a:chExt cx="11352375" cy="685800"/>
          </a:xfrm>
        </p:grpSpPr>
        <p:sp>
          <p:nvSpPr>
            <p:cNvPr id="24" name="Rectangle 24"/>
            <p:cNvSpPr/>
            <p:nvPr/>
          </p:nvSpPr>
          <p:spPr>
            <a:xfrm>
              <a:off x="762000" y="5219700"/>
              <a:ext cx="10668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180" y="5476875"/>
              <a:ext cx="11055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北极星是</a:t>
              </a:r>
              <a:r>
                <a:rPr lang="zh-Hans" sz="150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持续向 PowerPoint 本身靠拢</a:t>
              </a:r>
              <a:r>
                <a:rPr lang="zh-Hans" sz="15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——一个版本接一个版本，缩小 AI 生成与手工制作之间的差距。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830057" y="6295549"/>
            <a:ext cx="604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980" spc="150" dirty="0">
                <a:solidFill>
                  <a:srgbClr val="A8A093"/>
                </a:solidFill>
                <a:latin typeface="+mj-lt"/>
                <a:ea typeface="+mj-ea"/>
                <a:cs typeface="+mj-cs"/>
              </a:rPr>
              <a:t>05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5637276" cy="1097280"/>
            <a:chOff x="746760" y="741045"/>
            <a:chExt cx="5637276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P · 06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27188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不止一条路线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5627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FOUR TOP-LEVEL ROUTES, EACH WITH A PRESERVATION CONTRACT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62000" y="2362200"/>
            <a:ext cx="10668000" cy="3143250"/>
            <a:chOff x="762000" y="2362200"/>
            <a:chExt cx="10668000" cy="3143250"/>
          </a:xfrm>
        </p:grpSpPr>
        <p:sp>
          <p:nvSpPr>
            <p:cNvPr id="7" name="Rectangle 7"/>
            <p:cNvSpPr/>
            <p:nvPr/>
          </p:nvSpPr>
          <p:spPr>
            <a:xfrm>
              <a:off x="762000" y="2362200"/>
              <a:ext cx="2533650" cy="314325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362200"/>
              <a:ext cx="25336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0694" y="2761298"/>
              <a:ext cx="2143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3250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从头生成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5838" y="3579495"/>
              <a:ext cx="1020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GENERATE PPTX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38862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5266" y="4134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从源材料出发，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5266" y="4363402"/>
              <a:ext cx="1070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生成全新 deck。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86150" y="2362200"/>
              <a:ext cx="2533650" cy="314325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86150" y="2362200"/>
              <a:ext cx="2533650" cy="57150"/>
            </a:xfrm>
            <a:prstGeom prst="rect">
              <a:avLst/>
            </a:prstGeom>
            <a:solidFill>
              <a:srgbClr val="C7986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4844" y="2761298"/>
              <a:ext cx="2143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6368" y="3250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创建模板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9988" y="3579495"/>
              <a:ext cx="1208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CREATE TEMPLATE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714750" y="38862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09416" y="4134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从参考资料提炼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9416" y="436340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品牌 / 版式 / 模板。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10300" y="2362200"/>
              <a:ext cx="2533650" cy="314325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10300" y="2362200"/>
              <a:ext cx="2533650" cy="57150"/>
            </a:xfrm>
            <a:prstGeom prst="rect">
              <a:avLst/>
            </a:prstGeom>
            <a:solidFill>
              <a:srgbClr val="C7986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28994" y="2761298"/>
              <a:ext cx="2143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0518" y="3250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填充模板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4138" y="3579495"/>
              <a:ext cx="1168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FILL NATIVE PPTX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38900" y="38862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3566" y="41348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把新内容填进你已有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566" y="4363402"/>
              <a:ext cx="1473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的 .pptx 并保留设计。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34450" y="2362200"/>
              <a:ext cx="2495550" cy="314325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934450" y="2362200"/>
              <a:ext cx="2495550" cy="57150"/>
            </a:xfrm>
            <a:prstGeom prst="rect">
              <a:avLst/>
            </a:prstGeom>
            <a:solidFill>
              <a:srgbClr val="C7986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53144" y="2761298"/>
              <a:ext cx="2143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4668" y="3250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原生增强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58288" y="3579495"/>
              <a:ext cx="9397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ENHANCE PPTX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163050" y="38862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3A353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57716" y="4134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为成品追加转场、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57716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动画和旁白。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6666" y="5982652"/>
            <a:ext cx="10678287" cy="503587"/>
            <a:chOff x="756666" y="5982652"/>
            <a:chExt cx="10678287" cy="503587"/>
          </a:xfrm>
        </p:grpSpPr>
        <p:sp>
          <p:nvSpPr>
            <p:cNvPr id="40" name="TextBox 40"/>
            <p:cNvSpPr txBox="1"/>
            <p:nvPr/>
          </p:nvSpPr>
          <p:spPr>
            <a:xfrm>
              <a:off x="756666" y="5982652"/>
              <a:ext cx="3657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从源材料生成新 deck 是主管线，但它远不止这一种玩法。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6B645A"/>
                  </a:solidFill>
                  <a:latin typeface="+mj-lt"/>
                  <a:ea typeface="+mj-ea"/>
                  <a:cs typeface="+mj-cs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2934005" cy="1097280"/>
            <a:chOff x="746760" y="741045"/>
            <a:chExt cx="2934005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18227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三个承诺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2924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WHAT THE WORKFLOW GUARANTEES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42950" y="2161222"/>
            <a:ext cx="2876550" cy="2376012"/>
            <a:chOff x="742950" y="2161222"/>
            <a:chExt cx="2876550" cy="2376012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161222"/>
              <a:ext cx="1531247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￥0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3143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338709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成本透明可控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8219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工具免费开源，唯一成本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4069556"/>
              <a:ext cx="1835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是你自己的 AI 模型用量，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4317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不额外收任何订阅费。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648200" y="2161222"/>
            <a:ext cx="2876550" cy="2376012"/>
            <a:chOff x="4648200" y="2161222"/>
            <a:chExt cx="2876550" cy="2376012"/>
          </a:xfrm>
        </p:grpSpPr>
        <p:sp>
          <p:nvSpPr>
            <p:cNvPr id="14" name="TextBox 14"/>
            <p:cNvSpPr txBox="1"/>
            <p:nvPr/>
          </p:nvSpPr>
          <p:spPr>
            <a:xfrm>
              <a:off x="4648200" y="2161222"/>
              <a:ext cx="2350069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100%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667250" y="3143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58106" y="338709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数据不出本地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61535" y="3821906"/>
              <a:ext cx="1676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除与 AI 模型的对话外，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1535" y="4069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全流程都在你的电脑上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1535" y="4317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完成。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53450" y="2161222"/>
            <a:ext cx="2876550" cy="2376012"/>
            <a:chOff x="8553450" y="2161222"/>
            <a:chExt cx="2876550" cy="2376012"/>
          </a:xfrm>
        </p:grpSpPr>
        <p:sp>
          <p:nvSpPr>
            <p:cNvPr id="21" name="TextBox 21"/>
            <p:cNvSpPr txBox="1"/>
            <p:nvPr/>
          </p:nvSpPr>
          <p:spPr>
            <a:xfrm>
              <a:off x="8553450" y="2161222"/>
              <a:ext cx="567926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6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∞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72500" y="3143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63356" y="338709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不锁定平台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6785" y="3821906"/>
              <a:ext cx="1620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任何有 agent 能力的 AI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6785" y="4069556"/>
              <a:ext cx="1693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工具均可驱动；Claude、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6785" y="4317206"/>
              <a:ext cx="1837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GPT、Gemini、Kimi 皆可。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5219700"/>
            <a:ext cx="6106744" cy="495300"/>
            <a:chOff x="762000" y="5219700"/>
            <a:chExt cx="6106744" cy="495300"/>
          </a:xfrm>
        </p:grpSpPr>
        <p:sp>
          <p:nvSpPr>
            <p:cNvPr id="28" name="Line 28"/>
            <p:cNvSpPr/>
            <p:nvPr/>
          </p:nvSpPr>
          <p:spPr>
            <a:xfrm>
              <a:off x="762000" y="52197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4123" y="5424964"/>
              <a:ext cx="5884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把你的主题或材料交给 AI，就在你本机生成——数据在手，选择权也在手。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6057900"/>
            <a:ext cx="10672953" cy="428339"/>
            <a:chOff x="762000" y="6057900"/>
            <a:chExt cx="10672953" cy="428339"/>
          </a:xfrm>
        </p:grpSpPr>
        <p:sp>
          <p:nvSpPr>
            <p:cNvPr id="31" name="Line 31"/>
            <p:cNvSpPr/>
            <p:nvPr/>
          </p:nvSpPr>
          <p:spPr>
            <a:xfrm>
              <a:off x="762000" y="605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8D1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5938114" cy="1097280"/>
            <a:chOff x="746760" y="741045"/>
            <a:chExt cx="5938114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A8A093"/>
                  </a:solidFill>
                  <a:latin typeface="+mn-lt"/>
                  <a:ea typeface="+mn-ea"/>
                  <a:cs typeface="+mn-cs"/>
                </a:rPr>
                <a:t>P · 08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45110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一份工作流，多种风格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5928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SAME PIPELINE, WILDLY DIFFERENT LOOKS — GENERATED IN ONE PASS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62000" y="2362200"/>
            <a:ext cx="10668000" cy="3086100"/>
            <a:chOff x="762000" y="2362200"/>
            <a:chExt cx="10668000" cy="3086100"/>
          </a:xfrm>
        </p:grpSpPr>
        <p:sp>
          <p:nvSpPr>
            <p:cNvPr id="7" name="Rectangle 7"/>
            <p:cNvSpPr/>
            <p:nvPr/>
          </p:nvSpPr>
          <p:spPr>
            <a:xfrm>
              <a:off x="762000" y="2362200"/>
              <a:ext cx="3352800" cy="1428750"/>
            </a:xfrm>
            <a:prstGeom prst="rect">
              <a:avLst/>
            </a:prstGeom>
            <a:solidFill>
              <a:srgbClr val="F0E9DA"/>
            </a:solidFill>
            <a:ln w="9525">
              <a:solidFill>
                <a:srgbClr val="D8D1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362200"/>
              <a:ext cx="762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894" y="264699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chemeClr val="dk1"/>
                  </a:solidFill>
                  <a:latin typeface="Times New Roman"/>
                  <a:ea typeface="SimSun"/>
                  <a:cs typeface="Times New Roman"/>
                </a:rPr>
                <a:t>杂志编辑风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2038" y="3027045"/>
              <a:ext cx="13814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6B645A"/>
                  </a:solidFill>
                  <a:latin typeface="+mn-lt"/>
                  <a:ea typeface="+mn-ea"/>
                  <a:cs typeface="+mn-cs"/>
                </a:rPr>
                <a:t>EDITORIAL MAGAZINE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847" y="3380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排版网格，冷静克制的图文并茂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19600" y="2362200"/>
              <a:ext cx="3352800" cy="142875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2362200"/>
              <a:ext cx="76200" cy="1428750"/>
            </a:xfrm>
            <a:prstGeom prst="rect">
              <a:avLst/>
            </a:prstGeom>
            <a:solidFill>
              <a:srgbClr val="2E8B9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14494" y="264699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F5F1E8"/>
                  </a:solidFill>
                  <a:latin typeface="Times New Roman"/>
                  <a:ea typeface="SimSun"/>
                  <a:cs typeface="Times New Roman"/>
                </a:rPr>
                <a:t>深色数据风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9638" y="3027045"/>
              <a:ext cx="12022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7FA6B0"/>
                  </a:solidFill>
                  <a:latin typeface="+mn-lt"/>
                  <a:ea typeface="+mn-ea"/>
                  <a:cs typeface="+mn-cs"/>
                </a:rPr>
                <a:t>DATA JOURNALISM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9447" y="3380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C8D2D6"/>
                  </a:solidFill>
                  <a:latin typeface="+mn-lt"/>
                  <a:ea typeface="+mn-ea"/>
                  <a:cs typeface="+mn-cs"/>
                </a:rPr>
                <a:t>深色仪表盘，图表驱动，彭博风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77200" y="2362200"/>
              <a:ext cx="33528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77200" y="2362200"/>
              <a:ext cx="76200" cy="1428750"/>
            </a:xfrm>
            <a:prstGeom prst="rect">
              <a:avLst/>
            </a:prstGeom>
            <a:solidFill>
              <a:srgbClr val="D9251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2094" y="26469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chemeClr val="dk1"/>
                  </a:solidFill>
                  <a:latin typeface="Arial Black"/>
                  <a:ea typeface="Microsoft YaHei"/>
                  <a:cs typeface="Arial Black"/>
                </a:rPr>
                <a:t>瑞士栅格风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7238" y="3027045"/>
              <a:ext cx="739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666666"/>
                  </a:solidFill>
                  <a:latin typeface="+mn-lt"/>
                  <a:ea typeface="+mn-ea"/>
                  <a:cs typeface="+mn-cs"/>
                </a:rPr>
                <a:t>SWISS GRID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7047" y="3380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严格栅格，克制字体，红色点缀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019550"/>
              <a:ext cx="3352800" cy="1428750"/>
            </a:xfrm>
            <a:prstGeom prst="rect">
              <a:avLst/>
            </a:prstGeom>
            <a:solidFill>
              <a:srgbClr val="2A235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4019550"/>
              <a:ext cx="3352800" cy="1428750"/>
            </a:xfrm>
            <a:prstGeom prst="rect">
              <a:avLst/>
            </a:prstGeom>
            <a:solidFill>
              <a:srgbClr val="6C63FF">
                <a:alpha val="25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4019550"/>
              <a:ext cx="76200" cy="1428750"/>
            </a:xfrm>
            <a:prstGeom prst="rect">
              <a:avLst/>
            </a:prstGeom>
            <a:solidFill>
              <a:srgbClr val="B9B2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894" y="4304348"/>
              <a:ext cx="17932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F5F1E8"/>
                  </a:solidFill>
                  <a:latin typeface="Times New Roman"/>
                  <a:ea typeface="SimSun"/>
                  <a:cs typeface="Times New Roman"/>
                </a:rPr>
                <a:t>毛玻璃 SaaS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2038" y="4684395"/>
              <a:ext cx="10976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B9B2FF"/>
                  </a:solidFill>
                  <a:latin typeface="+mn-lt"/>
                  <a:ea typeface="+mn-ea"/>
                  <a:cs typeface="+mn-cs"/>
                </a:rPr>
                <a:t>GLASSMORPHISM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1847" y="5038249"/>
              <a:ext cx="2163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D8D4FF"/>
                  </a:solidFill>
                  <a:latin typeface="+mn-lt"/>
                  <a:ea typeface="+mn-ea"/>
                  <a:cs typeface="+mn-cs"/>
                </a:rPr>
                <a:t>半透明叠层，渐变景深，产品 UI 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19600" y="4019550"/>
              <a:ext cx="3352800" cy="1428750"/>
            </a:xfrm>
            <a:prstGeom prst="rect">
              <a:avLst/>
            </a:prstGeom>
            <a:solidFill>
              <a:srgbClr val="FFD23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067550" y="4114800"/>
              <a:ext cx="533400" cy="533400"/>
            </a:xfrm>
            <a:prstGeom prst="ellipse">
              <a:avLst/>
            </a:prstGeom>
            <a:solidFill>
              <a:srgbClr val="FF596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0" y="4857750"/>
              <a:ext cx="381000" cy="381000"/>
            </a:xfrm>
            <a:prstGeom prst="rect">
              <a:avLst/>
            </a:prstGeom>
            <a:solidFill>
              <a:srgbClr val="2E86A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14494" y="430434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chemeClr val="dk1"/>
                  </a:solidFill>
                  <a:latin typeface="Times New Roman"/>
                  <a:ea typeface="SimSun"/>
                  <a:cs typeface="Times New Roman"/>
                </a:rPr>
                <a:t>孟菲斯波普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9638" y="4684395"/>
              <a:ext cx="9035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MEMPHIS POP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9447" y="50382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高饱和原色，几何图形，俏皮活力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4019550"/>
              <a:ext cx="3352800" cy="14287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77200" y="4019550"/>
              <a:ext cx="3352800" cy="1428750"/>
            </a:xfrm>
            <a:prstGeom prst="rect">
              <a:avLst/>
            </a:prstGeom>
            <a:solidFill>
              <a:srgbClr val="E8543F">
                <a:alpha val="18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77200" y="4019550"/>
              <a:ext cx="76200" cy="1428750"/>
            </a:xfrm>
            <a:prstGeom prst="rect">
              <a:avLst/>
            </a:prstGeom>
            <a:solidFill>
              <a:srgbClr val="1F5C8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72094" y="4304348"/>
              <a:ext cx="13238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950" b="1" dirty="0">
                  <a:solidFill>
                    <a:srgbClr val="1F5C8C"/>
                  </a:solidFill>
                  <a:latin typeface="Times New Roman"/>
                  <a:ea typeface="SimSun"/>
                  <a:cs typeface="Times New Roman"/>
                </a:rPr>
                <a:t>Riso 双色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7238" y="4684395"/>
              <a:ext cx="10635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75" dirty="0">
                  <a:solidFill>
                    <a:srgbClr val="E8543F"/>
                  </a:solidFill>
                  <a:latin typeface="+mn-lt"/>
                  <a:ea typeface="+mn-ea"/>
                  <a:cs typeface="+mn-cs"/>
                </a:rPr>
                <a:t>RISOGRAPH ZINE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7047" y="50382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4A443C"/>
                  </a:solidFill>
                  <a:latin typeface="+mn-lt"/>
                  <a:ea typeface="+mn-ea"/>
                  <a:cs typeface="+mn-cs"/>
                </a:rPr>
                <a:t>双色印刷质感，手作书店文化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6666" y="5982652"/>
            <a:ext cx="10678287" cy="503587"/>
            <a:chOff x="756666" y="5982652"/>
            <a:chExt cx="10678287" cy="503587"/>
          </a:xfrm>
        </p:grpSpPr>
        <p:sp>
          <p:nvSpPr>
            <p:cNvPr id="41" name="TextBox 41"/>
            <p:cNvSpPr txBox="1"/>
            <p:nvPr/>
          </p:nvSpPr>
          <p:spPr>
            <a:xfrm>
              <a:off x="756666" y="5982652"/>
              <a:ext cx="518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i="1" dirty="0">
                  <a:solidFill>
                    <a:srgbClr val="8A8378"/>
                  </a:solidFill>
                  <a:latin typeface="+mj-lt"/>
                  <a:ea typeface="+mj-ea"/>
                  <a:cs typeface="+mj-cs"/>
                </a:rPr>
                <a:t>以上示例均为一次性生成、未经精修（Claude Opus 4.7 + gpt-image-2）。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30057" y="62955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A8A093"/>
                  </a:solidFill>
                  <a:latin typeface="+mj-lt"/>
                  <a:ea typeface="+mj-ea"/>
                  <a:cs typeface="+mj-cs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6760" y="741045"/>
            <a:ext cx="5407152" cy="1097280"/>
            <a:chOff x="746760" y="741045"/>
            <a:chExt cx="5407152" cy="1097280"/>
          </a:xfrm>
        </p:grpSpPr>
        <p:sp>
          <p:nvSpPr>
            <p:cNvPr id="2" name="TextBox 2"/>
            <p:cNvSpPr txBox="1"/>
            <p:nvPr/>
          </p:nvSpPr>
          <p:spPr>
            <a:xfrm>
              <a:off x="757238" y="741045"/>
              <a:ext cx="5279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spc="225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P · 09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6760" y="1009650"/>
              <a:ext cx="54071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一个工具，不是一个许愿池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505902"/>
              <a:ext cx="2567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spc="15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A TOOL, NOT A WISHING WELL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8288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2362200"/>
            <a:ext cx="10668000" cy="1143000"/>
            <a:chOff x="762000" y="2362200"/>
            <a:chExt cx="10668000" cy="1143000"/>
          </a:xfrm>
        </p:grpSpPr>
        <p:sp>
          <p:nvSpPr>
            <p:cNvPr id="7" name="Rectangle 7"/>
            <p:cNvSpPr/>
            <p:nvPr/>
          </p:nvSpPr>
          <p:spPr>
            <a:xfrm>
              <a:off x="762000" y="2362200"/>
              <a:ext cx="10668000" cy="1143000"/>
            </a:xfrm>
            <a:prstGeom prst="rect">
              <a:avLst/>
            </a:prstGeom>
            <a:solidFill>
              <a:srgbClr val="2320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20639" y="2748915"/>
              <a:ext cx="57507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3300" b="1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 xml:space="preserve">harness + model = </a:t>
              </a:r>
              <a:r>
                <a:rPr lang="zh-Hans" sz="3300" b="1" dirty="0">
                  <a:solidFill>
                    <a:srgbClr val="C7986B"/>
                  </a:solidFill>
                  <a:latin typeface="+mj-lt"/>
                  <a:ea typeface="+mj-ea"/>
                  <a:cs typeface="+mj-cs"/>
                </a:rPr>
                <a:t>agent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5142" y="4045268"/>
            <a:ext cx="6724955" cy="911733"/>
            <a:chOff x="755142" y="4045268"/>
            <a:chExt cx="6724955" cy="911733"/>
          </a:xfrm>
        </p:grpSpPr>
        <p:sp>
          <p:nvSpPr>
            <p:cNvPr id="10" name="TextBox 10"/>
            <p:cNvSpPr txBox="1"/>
            <p:nvPr/>
          </p:nvSpPr>
          <p:spPr>
            <a:xfrm>
              <a:off x="755142" y="4045268"/>
              <a:ext cx="4252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PPT Master 只负责工作流，产出上限由模型决定。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4369118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它的价值是帮你把大部分枯燥的活儿干掉，剩下的打磨交给你——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692968"/>
              <a:ext cx="6724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D8D1C2"/>
                  </a:solidFill>
                  <a:latin typeface="+mn-lt"/>
                  <a:ea typeface="+mn-ea"/>
                  <a:cs typeface="+mn-cs"/>
                </a:rPr>
                <a:t>做原生可编辑的 PPT，本就是为了让你接着改，而不是甩给你一张改不动的图。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5295900"/>
            <a:ext cx="7543023" cy="574834"/>
            <a:chOff x="762000" y="5295900"/>
            <a:chExt cx="7543023" cy="574834"/>
          </a:xfrm>
        </p:grpSpPr>
        <p:sp>
          <p:nvSpPr>
            <p:cNvPr id="14" name="Line 14"/>
            <p:cNvSpPr/>
            <p:nvPr/>
          </p:nvSpPr>
          <p:spPr>
            <a:xfrm>
              <a:off x="762000" y="5295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38100">
              <a:solidFill>
                <a:srgbClr val="C798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885" y="5403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C7986B"/>
                  </a:solidFill>
                  <a:latin typeface="+mn-lt"/>
                  <a:ea typeface="+mn-ea"/>
                  <a:cs typeface="+mn-cs"/>
                </a:rPr>
                <a:t>推荐配置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5650706"/>
              <a:ext cx="7320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8A8378"/>
                  </a:solidFill>
                  <a:latin typeface="+mn-lt"/>
                  <a:ea typeface="+mn-ea"/>
                  <a:cs typeface="+mn-cs"/>
                </a:rPr>
                <a:t>大上下文模型（Kimi K3 / Claude，~100 万 token）+ AI 生图（gpt-image-2 或 gemini-3.1-flash-image）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830057" y="6295549"/>
            <a:ext cx="6048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980" spc="150" dirty="0">
                <a:solidFill>
                  <a:srgbClr val="6B645A"/>
                </a:solidFill>
                <a:latin typeface="+mj-lt"/>
                <a:ea typeface="+mj-ea"/>
                <a:cs typeface="+mj-cs"/>
              </a:rPr>
              <a:t>09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762750"/>
              <a:ext cx="121920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57047" y="1037749"/>
            <a:ext cx="2367107" cy="267176"/>
            <a:chOff x="757047" y="1037749"/>
            <a:chExt cx="2367107" cy="267176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1037749"/>
              <a:ext cx="2367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spc="300" dirty="0">
                  <a:solidFill>
                    <a:srgbClr val="F0C9C3"/>
                  </a:solidFill>
                  <a:latin typeface="+mn-lt"/>
                  <a:ea typeface="+mn-ea"/>
                  <a:cs typeface="+mn-cs"/>
                </a:rPr>
                <a:t>全文一句话 · IN ONE LINE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295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F5F1E8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04850" y="2608898"/>
            <a:ext cx="11927506" cy="1724025"/>
            <a:chOff x="704850" y="2608898"/>
            <a:chExt cx="11927506" cy="1724025"/>
          </a:xfrm>
        </p:grpSpPr>
        <p:sp>
          <p:nvSpPr>
            <p:cNvPr id="8" name="TextBox 8"/>
            <p:cNvSpPr txBox="1"/>
            <p:nvPr/>
          </p:nvSpPr>
          <p:spPr>
            <a:xfrm>
              <a:off x="704850" y="2608898"/>
              <a:ext cx="64567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4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把材料交给 AI，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4850" y="3370898"/>
              <a:ext cx="11927506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4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拿回一份</a:t>
              </a:r>
              <a:r>
                <a:rPr lang="zh-Hans" sz="4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能接着改</a:t>
              </a:r>
              <a:r>
                <a:rPr lang="zh-Hans" sz="4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的 PowerPoint。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142" y="4483418"/>
            <a:ext cx="6574422" cy="264033"/>
            <a:chOff x="755142" y="4483418"/>
            <a:chExt cx="6574422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755142" y="4483418"/>
              <a:ext cx="657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rgbClr val="F5E6E3"/>
                  </a:solidFill>
                  <a:latin typeface="+mn-lt"/>
                  <a:ea typeface="+mn-ea"/>
                  <a:cs typeface="+mn-cs"/>
                </a:rPr>
                <a:t>不是静态图，不是填空模板——是真正的原生对象模型，数据在本地，选择权在你。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3618" y="5295900"/>
            <a:ext cx="10681335" cy="854011"/>
            <a:chOff x="753618" y="5295900"/>
            <a:chExt cx="10681335" cy="854011"/>
          </a:xfrm>
        </p:grpSpPr>
        <p:sp>
          <p:nvSpPr>
            <p:cNvPr id="13" name="Line 13"/>
            <p:cNvSpPr/>
            <p:nvPr/>
          </p:nvSpPr>
          <p:spPr>
            <a:xfrm>
              <a:off x="762000" y="5295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6A5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5594032"/>
              <a:ext cx="42830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spc="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github.com/hugohe3/ppt-master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5944552"/>
              <a:ext cx="4525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F0C9C3"/>
                  </a:solidFill>
                  <a:latin typeface="+mn-lt"/>
                  <a:ea typeface="+mn-ea"/>
                  <a:cs typeface="+mn-cs"/>
                </a:rPr>
                <a:t>Live Demo · Examples · FAQ · Roadmap　—　MIT License，免费开源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30057" y="5952649"/>
              <a:ext cx="604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spc="150" dirty="0">
                  <a:solidFill>
                    <a:srgbClr val="F0C9C3"/>
                  </a:solidFill>
                  <a:latin typeface="+mj-lt"/>
                  <a:ea typeface="+mj-ea"/>
                  <a:cs typeface="+mj-cs"/>
                </a:rPr>
                <a:t>10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master_intro">
  <a:themeElements>
    <a:clrScheme name="ppt_master_intro">
      <a:dk1>
        <a:srgbClr val="1A1714"/>
      </a:dk1>
      <a:lt1>
        <a:srgbClr val="F5F1E8"/>
      </a:lt1>
      <a:dk2>
        <a:srgbClr val="1A1714"/>
      </a:dk2>
      <a:lt2>
        <a:srgbClr val="F5F1E8"/>
      </a:lt2>
      <a:accent1>
        <a:srgbClr val="1A1714"/>
      </a:accent1>
      <a:accent2>
        <a:srgbClr val="B23A2E"/>
      </a:accent2>
      <a:accent3>
        <a:srgbClr val="B23A2E"/>
      </a:accent3>
      <a:accent4>
        <a:srgbClr val="1A1714"/>
      </a:accent4>
      <a:accent5>
        <a:srgbClr val="4BACC6"/>
      </a:accent5>
      <a:accent6>
        <a:srgbClr val="F79646"/>
      </a:accent6>
      <a:hlink>
        <a:srgbClr val="B23A2E"/>
      </a:hlink>
      <a:folHlink>
        <a:srgbClr val="B23A2E"/>
      </a:folHlink>
    </a:clrScheme>
    <a:fontScheme name="ppt_master_intro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</dc:language>
  <cp:lastModifiedBy/>
  <cp:revision>1</cp:revision>
  <dcterms:created xsi:type="dcterms:W3CDTF">2026-07-30T06:03:37Z</dcterms:created>
  <dcterms:modified xsi:type="dcterms:W3CDTF">2026-07-30T06:03:37Z</dcterms:modified>
  <cp:category/>
  <cp:contentStatus/>
</cp:coreProperties>
</file>