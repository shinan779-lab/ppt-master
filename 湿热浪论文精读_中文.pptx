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umid_heatwaves_pap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umid_heatwaves_pap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57047" y="732949"/>
            <a:ext cx="10677906" cy="267176"/>
            <a:chOff x="757047" y="732949"/>
            <a:chExt cx="10677906" cy="267176"/>
          </a:xfrm>
        </p:grpSpPr>
        <p:sp>
          <p:nvSpPr>
            <p:cNvPr id="5" name="TextBox 5"/>
            <p:cNvSpPr txBox="1"/>
            <p:nvPr/>
          </p:nvSpPr>
          <p:spPr>
            <a:xfrm>
              <a:off x="757047" y="732949"/>
              <a:ext cx="2465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30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论文精读 · PAPER READING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9906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65017" y="732949"/>
              <a:ext cx="26699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NATURE COMMUNICATIONS · 2025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4850" y="1904048"/>
            <a:ext cx="6691732" cy="2241041"/>
            <a:chOff x="704850" y="1904048"/>
            <a:chExt cx="6691732" cy="2241041"/>
          </a:xfrm>
        </p:grpSpPr>
        <p:sp>
          <p:nvSpPr>
            <p:cNvPr id="9" name="TextBox 9"/>
            <p:cNvSpPr txBox="1"/>
            <p:nvPr/>
          </p:nvSpPr>
          <p:spPr>
            <a:xfrm>
              <a:off x="704850" y="1904048"/>
              <a:ext cx="5952439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4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每日降雨的波动，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4850" y="2666048"/>
              <a:ext cx="6691732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4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主宰着热带的</a:t>
              </a:r>
              <a:r>
                <a:rPr lang="zh-Hans" sz="4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湿热浪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555682"/>
              <a:ext cx="57818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i="1" dirty="0">
                  <a:solidFill>
                    <a:srgbClr val="6B645A"/>
                  </a:solidFill>
                  <a:latin typeface="+mj-lt"/>
                  <a:ea typeface="+mj-ea"/>
                  <a:cs typeface="+mj-cs"/>
                </a:rPr>
                <a:t>Daily rainfall variability controls humid heatwaves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618" y="3822382"/>
              <a:ext cx="40770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i="1" dirty="0">
                  <a:solidFill>
                    <a:srgbClr val="6B645A"/>
                  </a:solidFill>
                  <a:latin typeface="+mj-lt"/>
                  <a:ea typeface="+mj-ea"/>
                  <a:cs typeface="+mj-cs"/>
                </a:rPr>
                <a:t>in the global tropics and subtropics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4476750"/>
            <a:ext cx="5101569" cy="898684"/>
            <a:chOff x="762000" y="4476750"/>
            <a:chExt cx="5101569" cy="898684"/>
          </a:xfrm>
        </p:grpSpPr>
        <p:sp>
          <p:nvSpPr>
            <p:cNvPr id="14" name="Line 14"/>
            <p:cNvSpPr/>
            <p:nvPr/>
          </p:nvSpPr>
          <p:spPr>
            <a:xfrm>
              <a:off x="762000" y="44767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123" y="4624864"/>
              <a:ext cx="3949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Jackson · Birch · Chagnaud · Marsham · Taylor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885" y="4907756"/>
              <a:ext cx="4878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利兹大学 · 英国生态与水文中心　|　Nature Communications 16, 3461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885" y="5155406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首次在全球尺度揭示"近期降雨"如何触发极端湿热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7047" y="6057900"/>
            <a:ext cx="10677906" cy="428339"/>
            <a:chOff x="757047" y="6057900"/>
            <a:chExt cx="10677906" cy="428339"/>
          </a:xfrm>
        </p:grpSpPr>
        <p:sp>
          <p:nvSpPr>
            <p:cNvPr id="19" name="Line 19"/>
            <p:cNvSpPr/>
            <p:nvPr/>
          </p:nvSpPr>
          <p:spPr>
            <a:xfrm>
              <a:off x="762000" y="605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047" y="6295549"/>
              <a:ext cx="4426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75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DOI: 10.1038/s41467-025-58694-6　·　开放获取 CC-BY 4.0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7047" y="1037749"/>
            <a:ext cx="2605786" cy="267176"/>
            <a:chOff x="757047" y="1037749"/>
            <a:chExt cx="2605786" cy="267176"/>
          </a:xfrm>
        </p:grpSpPr>
        <p:sp>
          <p:nvSpPr>
            <p:cNvPr id="2" name="TextBox 2"/>
            <p:cNvSpPr txBox="1"/>
            <p:nvPr/>
          </p:nvSpPr>
          <p:spPr>
            <a:xfrm>
              <a:off x="757047" y="1037749"/>
              <a:ext cx="26057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30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研究背景 · WHY IT MATTERS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762000" y="12954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746760" y="1619250"/>
            <a:ext cx="6303264" cy="586740"/>
            <a:chOff x="746760" y="1619250"/>
            <a:chExt cx="630326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1619250"/>
              <a:ext cx="630326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湿热浪，正在逼近人类耐受极限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2950" y="2446972"/>
            <a:ext cx="10687050" cy="2185512"/>
            <a:chOff x="742950" y="2446972"/>
            <a:chExt cx="10687050" cy="2185512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2446972"/>
              <a:ext cx="2611542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64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35°C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33909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3999" y="3620929"/>
              <a:ext cx="21397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湿球温度的生理红线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9552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持续数小时即可让人体失去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41838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有效散热能力；实际风险在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4412456"/>
              <a:ext cx="1413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约 31°C 就已显现。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8200" y="2446972"/>
              <a:ext cx="2687231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64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1979↑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667250" y="33909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59249" y="3620929"/>
              <a:ext cx="21397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趋势：更强、更频繁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61535" y="395525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自 1979 年以来湿热极端事件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61535" y="41838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持续加剧；波斯湾沿岸已出现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61535" y="4412456"/>
              <a:ext cx="1731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短暂超过 35°C 的记录。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53450" y="2446972"/>
              <a:ext cx="567926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64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572500" y="33909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64499" y="3620929"/>
              <a:ext cx="14318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机理仍是空白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6785" y="39552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干热浪研究已成熟，但湿热浪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6785" y="41838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的气象驱动机制，尤其是降雨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6785" y="44124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的作用，仍亟待厘清。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5181600"/>
            <a:ext cx="5921426" cy="533400"/>
            <a:chOff x="762000" y="5181600"/>
            <a:chExt cx="5921426" cy="533400"/>
          </a:xfrm>
        </p:grpSpPr>
        <p:sp>
          <p:nvSpPr>
            <p:cNvPr id="26" name="Line 26"/>
            <p:cNvSpPr/>
            <p:nvPr/>
          </p:nvSpPr>
          <p:spPr>
            <a:xfrm>
              <a:off x="762000" y="51816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38100">
              <a:solidFill>
                <a:srgbClr val="C7986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123" y="5386864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热带天然湿润，全球升温哪怕一点点，都会带来危险湿热极端的大幅增加。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830057" y="6295549"/>
            <a:ext cx="604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980" spc="150" dirty="0">
                <a:solidFill>
                  <a:srgbClr val="6B645A"/>
                </a:solidFill>
                <a:latin typeface="+mj-lt"/>
                <a:ea typeface="+mj-ea"/>
                <a:cs typeface="+mj-c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4062984" cy="1097280"/>
            <a:chOff x="746760" y="741045"/>
            <a:chExt cx="4062984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4062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这项研究要回答什么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3100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RESEARCH QUESTIONS &amp; HYPOTHESIS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6760" y="2222182"/>
            <a:ext cx="4968240" cy="1102424"/>
            <a:chOff x="746760" y="2222182"/>
            <a:chExt cx="4968240" cy="1102424"/>
          </a:xfrm>
        </p:grpSpPr>
        <p:sp>
          <p:nvSpPr>
            <p:cNvPr id="7" name="TextBox 7"/>
            <p:cNvSpPr txBox="1"/>
            <p:nvPr/>
          </p:nvSpPr>
          <p:spPr>
            <a:xfrm>
              <a:off x="746760" y="2266950"/>
              <a:ext cx="7377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E0D8C8"/>
                  </a:solidFill>
                  <a:latin typeface="+mj-lt"/>
                  <a:ea typeface="+mj-ea"/>
                  <a:cs typeface="+mj-cs"/>
                </a:rPr>
                <a:t>Q1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24574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5618" y="2222182"/>
              <a:ext cx="3713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降雨与湿热浪，到底有没有关系？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28422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在全球热带与副热带陆地上，系统检验近期每日降雨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30899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与湿热浪发生之间是否存在统计显著的联系。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6760" y="3669982"/>
            <a:ext cx="4968240" cy="1102424"/>
            <a:chOff x="746760" y="3669982"/>
            <a:chExt cx="4968240" cy="1102424"/>
          </a:xfrm>
        </p:grpSpPr>
        <p:sp>
          <p:nvSpPr>
            <p:cNvPr id="13" name="TextBox 13"/>
            <p:cNvSpPr txBox="1"/>
            <p:nvPr/>
          </p:nvSpPr>
          <p:spPr>
            <a:xfrm>
              <a:off x="746760" y="3714750"/>
              <a:ext cx="7377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E0D8C8"/>
                  </a:solidFill>
                  <a:latin typeface="+mj-lt"/>
                  <a:ea typeface="+mj-ea"/>
                  <a:cs typeface="+mj-cs"/>
                </a:rPr>
                <a:t>Q2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428750" y="39052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15618" y="3669982"/>
              <a:ext cx="3220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陆面状态如何调节这种关系？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42900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检验一个假说：降雨通过地表水汽通量影响湿热，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904" y="4537710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而这一过程在"能量受限"与"水分受限"环境中截然不同。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5105400"/>
            <a:ext cx="10668000" cy="762000"/>
            <a:chOff x="762000" y="5105400"/>
            <a:chExt cx="10668000" cy="762000"/>
          </a:xfrm>
        </p:grpSpPr>
        <p:sp>
          <p:nvSpPr>
            <p:cNvPr id="19" name="Rectangle 19"/>
            <p:cNvSpPr/>
            <p:nvPr/>
          </p:nvSpPr>
          <p:spPr>
            <a:xfrm>
              <a:off x="762000" y="5105400"/>
              <a:ext cx="106680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1466" y="5334952"/>
              <a:ext cx="1634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75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创新点 · WHAT'S NEW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704" y="5585460"/>
              <a:ext cx="6595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首次覆盖</a:t>
              </a:r>
              <a:r>
                <a:rPr lang="zh-Han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整个全球热带与副热带</a:t>
              </a:r>
              <a:r>
                <a:rPr lang="zh-Hans" sz="12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（而非仅南亚），并同时刻画湿热的</a:t>
              </a:r>
              <a:r>
                <a:rPr lang="zh-Han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促进与抑制</a:t>
              </a:r>
              <a:r>
                <a:rPr lang="zh-Hans" sz="12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两种机制。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6057900"/>
            <a:ext cx="10672953" cy="428339"/>
            <a:chOff x="762000" y="6057900"/>
            <a:chExt cx="10672953" cy="428339"/>
          </a:xfrm>
        </p:grpSpPr>
        <p:sp>
          <p:nvSpPr>
            <p:cNvPr id="23" name="Line 23"/>
            <p:cNvSpPr/>
            <p:nvPr/>
          </p:nvSpPr>
          <p:spPr>
            <a:xfrm>
              <a:off x="762000" y="605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2270760" cy="1097280"/>
            <a:chOff x="746760" y="741045"/>
            <a:chExt cx="2270760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22707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数据与方法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14231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DATA &amp; METHODS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2362200"/>
            <a:ext cx="3352800" cy="2857500"/>
            <a:chOff x="762000" y="2362200"/>
            <a:chExt cx="3352800" cy="2857500"/>
          </a:xfrm>
        </p:grpSpPr>
        <p:sp>
          <p:nvSpPr>
            <p:cNvPr id="7" name="Rectangle 7"/>
            <p:cNvSpPr/>
            <p:nvPr/>
          </p:nvSpPr>
          <p:spPr>
            <a:xfrm>
              <a:off x="762000" y="2362200"/>
              <a:ext cx="3352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1C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1560" y="26098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EAE3D4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8418" y="31746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数据来源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66800" y="35433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1085" y="3764756"/>
              <a:ext cx="1805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ERA5 再分析（气象场）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1085" y="4050506"/>
              <a:ext cx="162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GPM-IMERG 卫星降雨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1085" y="4336256"/>
              <a:ext cx="1595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HadISD 地面站点验证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1466" y="4744402"/>
              <a:ext cx="2325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时段 2001–2022；范围 35°N–35°S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19600" y="2362200"/>
            <a:ext cx="3352800" cy="2857500"/>
            <a:chOff x="4419600" y="2362200"/>
            <a:chExt cx="3352800" cy="2857500"/>
          </a:xfrm>
        </p:grpSpPr>
        <p:sp>
          <p:nvSpPr>
            <p:cNvPr id="16" name="Rectangle 16"/>
            <p:cNvSpPr/>
            <p:nvPr/>
          </p:nvSpPr>
          <p:spPr>
            <a:xfrm>
              <a:off x="4419600" y="2362200"/>
              <a:ext cx="3352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1C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09160" y="26098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EAE3D4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16018" y="317468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如何界定湿热浪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724400" y="35433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18685" y="3764756"/>
              <a:ext cx="1845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指标：日均湿球温度 Twb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18685" y="4050506"/>
              <a:ext cx="1745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阈值：本地第 95 百分位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18685" y="4336256"/>
              <a:ext cx="1988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下限 24°C，至少持续 3 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19066" y="47444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用时空连通域法识别独立事件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77200" y="2362200"/>
            <a:ext cx="3352800" cy="2857500"/>
            <a:chOff x="8077200" y="2362200"/>
            <a:chExt cx="33528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8077200" y="2362200"/>
              <a:ext cx="3352800" cy="285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66760" y="26098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3A3530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3618" y="3174682"/>
              <a:ext cx="19318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关键判据：ELI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382000" y="35433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rgbClr val="C7986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6285" y="3764756"/>
              <a:ext cx="1827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生态限制指数（ELI）判别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6285" y="40124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陆面属于哪种受限状态：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6285" y="4355306"/>
              <a:ext cx="132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ELI &gt; 0 → 水分受限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6285" y="4602956"/>
              <a:ext cx="132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ELI &lt; 0 → 能量受限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7047" y="4885849"/>
              <a:ext cx="24769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比较蒸发对土壤湿度 vs 短波辐射的敏感度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6285" y="5555456"/>
            <a:ext cx="10678668" cy="930783"/>
            <a:chOff x="756285" y="5555456"/>
            <a:chExt cx="10678668" cy="930783"/>
          </a:xfrm>
        </p:grpSpPr>
        <p:sp>
          <p:nvSpPr>
            <p:cNvPr id="35" name="TextBox 35"/>
            <p:cNvSpPr txBox="1"/>
            <p:nvPr/>
          </p:nvSpPr>
          <p:spPr>
            <a:xfrm>
              <a:off x="756285" y="5555456"/>
              <a:ext cx="5024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再用"相对风险"衡量：在增雨 / 减雨日之后，湿热浪发生的概率各是多少。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" y="605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7199376" cy="1097280"/>
            <a:chOff x="746760" y="741045"/>
            <a:chExt cx="7199376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1251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05 — 发现一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71993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湿热浪遍布热带，且与降雨紧密相关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3785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FINDING 1 · WIDESPREAD &amp; RAINFALL-LINKED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53618" y="2355532"/>
            <a:ext cx="4580382" cy="2651379"/>
            <a:chOff x="753618" y="2355532"/>
            <a:chExt cx="4580382" cy="2651379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2355532"/>
              <a:ext cx="1495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哪里会发生？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7051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2937510"/>
              <a:ext cx="2887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季风区：西非、印度、中国东部、澳北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3261360"/>
              <a:ext cx="3211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赤道湿润区：亚马逊、刚果盆地、海洋大陆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3585210"/>
              <a:ext cx="2241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炎热沿海区：中东波斯湾一带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4061460"/>
              <a:ext cx="312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多数地区每年经历 1–2 次；单次事件较小，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4309110"/>
              <a:ext cx="2887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中位面积约 4400 km²，中位持续 4 天。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4801552"/>
              <a:ext cx="3595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i="1" dirty="0">
                  <a:solidFill>
                    <a:srgbClr val="8A8378"/>
                  </a:solidFill>
                  <a:latin typeface="+mj-lt"/>
                  <a:ea typeface="+mj-ea"/>
                  <a:cs typeface="+mj-cs"/>
                </a:rPr>
                <a:t>高纬季风边缘因湿度低、高海拔因气温低，频次骤降。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0" y="2362200"/>
            <a:ext cx="5334000" cy="2857500"/>
            <a:chOff x="6096000" y="2362200"/>
            <a:chExt cx="5334000" cy="2857500"/>
          </a:xfrm>
        </p:grpSpPr>
        <p:sp>
          <p:nvSpPr>
            <p:cNvPr id="16" name="Rectangle 16"/>
            <p:cNvSpPr/>
            <p:nvPr/>
          </p:nvSpPr>
          <p:spPr>
            <a:xfrm>
              <a:off x="6096000" y="2362200"/>
              <a:ext cx="5334000" cy="285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95466" y="2744152"/>
              <a:ext cx="1734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75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核心结论 · KEY RESULT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9370" y="3148012"/>
              <a:ext cx="27111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降雨与湿热浪之间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89370" y="3548062"/>
              <a:ext cx="27111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存在统计显著关系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400800" y="40957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95085" y="43553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横跨大片热带陆地，近期降雨都是湿热浪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5085" y="4602956"/>
              <a:ext cx="2755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发生的一个关键控制因子——但"增雨"还是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5085" y="485060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"减雨"利于湿热，取决于陆面状态。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6285" y="5715000"/>
            <a:ext cx="10678668" cy="771239"/>
            <a:chOff x="756285" y="5715000"/>
            <a:chExt cx="10678668" cy="771239"/>
          </a:xfrm>
        </p:grpSpPr>
        <p:sp>
          <p:nvSpPr>
            <p:cNvPr id="25" name="Line 25"/>
            <p:cNvSpPr/>
            <p:nvPr/>
          </p:nvSpPr>
          <p:spPr>
            <a:xfrm>
              <a:off x="762000" y="5715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6285" y="5974556"/>
              <a:ext cx="4564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这把"陆面受限状态"推到了舞台中央——引出下一页的三种机制分型。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4555846" cy="1097280"/>
            <a:chOff x="746760" y="741045"/>
            <a:chExt cx="4555846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1251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P · 06 — 发现二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45558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三种湿热浪"机制分型"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3578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FINDING 2 · THREE RAINFALL–ELI REGIMES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62000" y="2286000"/>
            <a:ext cx="3352800" cy="3200400"/>
            <a:chOff x="762000" y="2286000"/>
            <a:chExt cx="3352800" cy="3200400"/>
          </a:xfrm>
        </p:grpSpPr>
        <p:sp>
          <p:nvSpPr>
            <p:cNvPr id="7" name="Rectangle 7"/>
            <p:cNvSpPr/>
            <p:nvPr/>
          </p:nvSpPr>
          <p:spPr>
            <a:xfrm>
              <a:off x="762000" y="2286000"/>
              <a:ext cx="3352800" cy="320040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2286000"/>
              <a:ext cx="3352800" cy="57150"/>
            </a:xfrm>
            <a:prstGeom prst="rect">
              <a:avLst/>
            </a:prstGeom>
            <a:solidFill>
              <a:srgbClr val="2E6FB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9170" y="2614612"/>
              <a:ext cx="14498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2E6FB0"/>
                  </a:solidFill>
                  <a:latin typeface="+mj-lt"/>
                  <a:ea typeface="+mj-ea"/>
                  <a:cs typeface="+mj-cs"/>
                </a:rPr>
                <a:t>Regime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1456" y="30441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水分受限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5838" y="3388995"/>
              <a:ext cx="12768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MOISTURE-LIMITED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" y="36766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4885" y="39171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增雨之后 / 期间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885" y="41648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最易发生湿热浪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5266" y="46491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气候上炎热干旱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" y="4877752"/>
              <a:ext cx="703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占 8% 网格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5647" y="519064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典型：热带干旱 / 半干旱区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19600" y="2286000"/>
            <a:ext cx="3352800" cy="3200400"/>
            <a:chOff x="4419600" y="2286000"/>
            <a:chExt cx="3352800" cy="3200400"/>
          </a:xfrm>
        </p:grpSpPr>
        <p:sp>
          <p:nvSpPr>
            <p:cNvPr id="19" name="Rectangle 19"/>
            <p:cNvSpPr/>
            <p:nvPr/>
          </p:nvSpPr>
          <p:spPr>
            <a:xfrm>
              <a:off x="4419600" y="2286000"/>
              <a:ext cx="3352800" cy="320040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19600" y="2286000"/>
              <a:ext cx="3352800" cy="57150"/>
            </a:xfrm>
            <a:prstGeom prst="rect">
              <a:avLst/>
            </a:prstGeom>
            <a:solidFill>
              <a:srgbClr val="C787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6770" y="2614612"/>
              <a:ext cx="14498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C7873A"/>
                  </a:solidFill>
                  <a:latin typeface="+mj-lt"/>
                  <a:ea typeface="+mj-ea"/>
                  <a:cs typeface="+mj-cs"/>
                </a:rPr>
                <a:t>Regime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9056" y="30441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能量受限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3388995"/>
              <a:ext cx="1095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ENERGY-LIMITED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648200" y="36766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42485" y="39171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连续 2 天以上减雨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2485" y="41648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之后最易发生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2866" y="46491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气候上更凉更湿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2866" y="487775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占 23% 网格（最广）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3247" y="519064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典型：湿润季风 / 赤道区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77200" y="2286000"/>
            <a:ext cx="3352800" cy="3200400"/>
            <a:chOff x="8077200" y="2286000"/>
            <a:chExt cx="3352800" cy="3200400"/>
          </a:xfrm>
        </p:grpSpPr>
        <p:sp>
          <p:nvSpPr>
            <p:cNvPr id="31" name="Rectangle 31"/>
            <p:cNvSpPr/>
            <p:nvPr/>
          </p:nvSpPr>
          <p:spPr>
            <a:xfrm>
              <a:off x="8077200" y="2286000"/>
              <a:ext cx="3352800" cy="320040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77200" y="2286000"/>
              <a:ext cx="3352800" cy="57150"/>
            </a:xfrm>
            <a:prstGeom prst="rect">
              <a:avLst/>
            </a:prstGeom>
            <a:solidFill>
              <a:srgbClr val="6FA8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94370" y="2614612"/>
              <a:ext cx="14498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6FA8C7"/>
                  </a:solidFill>
                  <a:latin typeface="+mj-lt"/>
                  <a:ea typeface="+mj-ea"/>
                  <a:cs typeface="+mj-cs"/>
                </a:rPr>
                <a:t>Regime 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6656" y="30441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双重敏感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1038" y="3388995"/>
              <a:ext cx="12427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MIXED SENSITIVITY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305800" y="36766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00085" y="3917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接近气候常态的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0085" y="41648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降雨水平下发生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0466" y="46491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蒸发同时受土壤湿度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0466" y="48777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与短波辐射共同调控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00847" y="519064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典型：印度西部、莫桑比克、澳北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6666" y="5868352"/>
            <a:ext cx="10678287" cy="617887"/>
            <a:chOff x="756666" y="5868352"/>
            <a:chExt cx="10678287" cy="617887"/>
          </a:xfrm>
        </p:grpSpPr>
        <p:sp>
          <p:nvSpPr>
            <p:cNvPr id="43" name="TextBox 43"/>
            <p:cNvSpPr txBox="1"/>
            <p:nvPr/>
          </p:nvSpPr>
          <p:spPr>
            <a:xfrm>
              <a:off x="756666" y="5868352"/>
              <a:ext cx="6168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相对风险与 ELI 高度相关（r = +0.74）；另有极少数 Regime 0 与 66% 不显著网格未深入讨论。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6B645A"/>
                  </a:solidFill>
                  <a:latin typeface="+mj-lt"/>
                  <a:ea typeface="+mj-ea"/>
                  <a:cs typeface="+mj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8140294" cy="1097280"/>
            <a:chOff x="746760" y="741045"/>
            <a:chExt cx="8140294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07 — 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81402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为什么方向相反？看陆面如何"用掉"雨水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4798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THE MECHANISM · SURFACE EVAPORATION IS THE SWITCH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62000" y="2286000"/>
            <a:ext cx="5143500" cy="3238500"/>
            <a:chOff x="762000" y="2286000"/>
            <a:chExt cx="5143500" cy="3238500"/>
          </a:xfrm>
        </p:grpSpPr>
        <p:sp>
          <p:nvSpPr>
            <p:cNvPr id="7" name="Rectangle 7"/>
            <p:cNvSpPr/>
            <p:nvPr/>
          </p:nvSpPr>
          <p:spPr>
            <a:xfrm>
              <a:off x="762000" y="2286000"/>
              <a:ext cx="5143500" cy="3238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6FB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58699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rgbClr val="2E6FB0"/>
                  </a:solidFill>
                  <a:latin typeface="+mj-lt"/>
                  <a:ea typeface="+mj-ea"/>
                  <a:cs typeface="+mj-cs"/>
                </a:rPr>
                <a:t>水分受限（增雨触发）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2038" y="2931795"/>
              <a:ext cx="6090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REGIME 1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66800" y="32004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1085" y="3440906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① 降雨润湿干土，蒸发（潜热通量）猛增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1085" y="3745706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② 边界层被"加湿"，感热通量下降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1085" y="4050506"/>
              <a:ext cx="2401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③ 边界层变浅，水汽被压缩在近地面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1085" y="43553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④ 比湿大增 → 湿球温度飙升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66800" y="4762500"/>
              <a:ext cx="4533900" cy="53340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3866" y="4877752"/>
              <a:ext cx="29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2E6FB0"/>
                  </a:solidFill>
                  <a:latin typeface="+mn-lt"/>
                  <a:ea typeface="+mn-ea"/>
                  <a:cs typeface="+mn-cs"/>
                </a:rPr>
                <a:t>主因：比湿正距平（气温反而略降 ~ −2°C）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4247" y="5095399"/>
              <a:ext cx="21471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"湿"字当头——雨水刚落，湿热就来。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2286000"/>
            <a:ext cx="5143500" cy="3238500"/>
            <a:chOff x="6286500" y="2286000"/>
            <a:chExt cx="5143500" cy="3238500"/>
          </a:xfrm>
        </p:grpSpPr>
        <p:sp>
          <p:nvSpPr>
            <p:cNvPr id="19" name="Rectangle 19"/>
            <p:cNvSpPr/>
            <p:nvPr/>
          </p:nvSpPr>
          <p:spPr>
            <a:xfrm>
              <a:off x="6286500" y="2286000"/>
              <a:ext cx="5143500" cy="3238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787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2156" y="258699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rgbClr val="C7873A"/>
                  </a:solidFill>
                  <a:latin typeface="+mj-lt"/>
                  <a:ea typeface="+mj-ea"/>
                  <a:cs typeface="+mj-cs"/>
                </a:rPr>
                <a:t>能量受限（减雨触发）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86538" y="2931795"/>
              <a:ext cx="6090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REGIME 2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591300" y="32004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5585" y="3440906"/>
              <a:ext cx="2551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① 土壤本已湿润，蒸发不缺水、缺阳光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85585" y="37457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② 连续 2 天以上减雨、云量减少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85585" y="4050506"/>
              <a:ext cx="2551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③ 到达地表的短波辐射增加，地面升温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85585" y="43553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④ 高温叠加仍偏高的湿度 → 湿热浪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91300" y="4762500"/>
              <a:ext cx="4533900" cy="533400"/>
            </a:xfrm>
            <a:prstGeom prst="rect">
              <a:avLst/>
            </a:prstGeom>
            <a:solidFill>
              <a:srgbClr val="F8F1E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8366" y="48777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C7873A"/>
                  </a:solidFill>
                  <a:latin typeface="+mn-lt"/>
                  <a:ea typeface="+mn-ea"/>
                  <a:cs typeface="+mn-cs"/>
                </a:rPr>
                <a:t>主因：气温与比湿同时为正距平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8747" y="5095399"/>
              <a:ext cx="25033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雨停放晴，热量攒起来——绝对 Twb 最高。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6285" y="5791200"/>
            <a:ext cx="10678668" cy="695039"/>
            <a:chOff x="756285" y="5791200"/>
            <a:chExt cx="10678668" cy="695039"/>
          </a:xfrm>
        </p:grpSpPr>
        <p:sp>
          <p:nvSpPr>
            <p:cNvPr id="31" name="Line 31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6285" y="6012656"/>
              <a:ext cx="5914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同一个开关（地表蒸发对水分 / 能量的敏感度），在两类环境里把降雨的作用完全翻转。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6168847" cy="1097280"/>
            <a:chOff x="746760" y="741045"/>
            <a:chExt cx="6168847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14113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08 — 时间演变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61688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事件前后 ±7 天，降雨如何铺垫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49616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COMPOSITE TIMELINE · RAINFALL ANOMALY AROUND DAY 0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38047" y="2228374"/>
            <a:ext cx="9915906" cy="3381565"/>
            <a:chOff x="1138047" y="2228374"/>
            <a:chExt cx="9915906" cy="3381565"/>
          </a:xfrm>
        </p:grpSpPr>
        <p:sp>
          <p:nvSpPr>
            <p:cNvPr id="7" name="Line 7"/>
            <p:cNvSpPr/>
            <p:nvPr/>
          </p:nvSpPr>
          <p:spPr>
            <a:xfrm>
              <a:off x="1143000" y="4000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2381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76903" y="2228374"/>
              <a:ext cx="1038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0 · 热浪开始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8047" y="5419249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−7 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7421" y="5419249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+7 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0767" y="5419249"/>
              <a:ext cx="1177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← 事件前（铺垫期）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03557" y="5419249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事件后（消散期）→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2719864"/>
            <a:ext cx="9906000" cy="1394936"/>
            <a:chOff x="1143000" y="2719864"/>
            <a:chExt cx="9906000" cy="1394936"/>
          </a:xfrm>
        </p:grpSpPr>
        <p:sp>
          <p:nvSpPr>
            <p:cNvPr id="15" name="Freeform 15"/>
            <p:cNvSpPr/>
            <p:nvPr/>
          </p:nvSpPr>
          <p:spPr>
            <a:xfrm>
              <a:off x="1143000" y="3352800"/>
              <a:ext cx="9906000" cy="762000"/>
            </a:xfrm>
            <a:custGeom>
              <a:avLst/>
              <a:gdLst/>
              <a:ahLst/>
              <a:cxnLst/>
              <a:rect l="l" t="t" r="r" b="b"/>
              <a:pathLst>
                <a:path w="9906000" h="762000">
                  <a:moveTo>
                    <a:pt x="0" y="742950"/>
                  </a:moveTo>
                  <a:lnTo>
                    <a:pt x="2286000" y="762000"/>
                  </a:lnTo>
                  <a:lnTo>
                    <a:pt x="3810000" y="504825"/>
                  </a:lnTo>
                  <a:lnTo>
                    <a:pt x="4667250" y="76200"/>
                  </a:lnTo>
                  <a:lnTo>
                    <a:pt x="4953000" y="0"/>
                  </a:lnTo>
                  <a:lnTo>
                    <a:pt x="5715000" y="381000"/>
                  </a:lnTo>
                  <a:lnTo>
                    <a:pt x="7048500" y="647700"/>
                  </a:lnTo>
                  <a:lnTo>
                    <a:pt x="9906000" y="685800"/>
                  </a:lnTo>
                </a:path>
              </a:pathLst>
            </a:custGeom>
            <a:noFill/>
            <a:ln w="28575">
              <a:solidFill>
                <a:srgbClr val="2E6FB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762625" y="3381375"/>
              <a:ext cx="95250" cy="95250"/>
            </a:xfrm>
            <a:prstGeom prst="ellipse">
              <a:avLst/>
            </a:prstGeom>
            <a:solidFill>
              <a:srgbClr val="2E6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22273" y="2719864"/>
              <a:ext cx="18444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b="1" dirty="0">
                  <a:solidFill>
                    <a:srgbClr val="2E6FB0"/>
                  </a:solidFill>
                  <a:latin typeface="+mj-lt"/>
                  <a:ea typeface="+mj-ea"/>
                  <a:cs typeface="+mj-cs"/>
                </a:rPr>
                <a:t>Regime 1 · 增雨在前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3797" y="2980849"/>
              <a:ext cx="20933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前 2 天降雨距平猛增，Day −1 达峰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43000" y="2719864"/>
            <a:ext cx="9906000" cy="1737836"/>
            <a:chOff x="1143000" y="2719864"/>
            <a:chExt cx="9906000" cy="1737836"/>
          </a:xfrm>
        </p:grpSpPr>
        <p:sp>
          <p:nvSpPr>
            <p:cNvPr id="20" name="Freeform 20"/>
            <p:cNvSpPr/>
            <p:nvPr/>
          </p:nvSpPr>
          <p:spPr>
            <a:xfrm>
              <a:off x="1143000" y="3810000"/>
              <a:ext cx="9906000" cy="647700"/>
            </a:xfrm>
            <a:custGeom>
              <a:avLst/>
              <a:gdLst/>
              <a:ahLst/>
              <a:cxnLst/>
              <a:rect l="l" t="t" r="r" b="b"/>
              <a:pathLst>
                <a:path w="9906000" h="647700">
                  <a:moveTo>
                    <a:pt x="0" y="38100"/>
                  </a:moveTo>
                  <a:lnTo>
                    <a:pt x="2095500" y="0"/>
                  </a:lnTo>
                  <a:lnTo>
                    <a:pt x="3333750" y="76200"/>
                  </a:lnTo>
                  <a:lnTo>
                    <a:pt x="4191000" y="495300"/>
                  </a:lnTo>
                  <a:lnTo>
                    <a:pt x="4953000" y="647700"/>
                  </a:lnTo>
                  <a:lnTo>
                    <a:pt x="6096000" y="381000"/>
                  </a:lnTo>
                  <a:lnTo>
                    <a:pt x="7429500" y="209550"/>
                  </a:lnTo>
                  <a:lnTo>
                    <a:pt x="8382000" y="47625"/>
                  </a:lnTo>
                  <a:lnTo>
                    <a:pt x="8763000" y="171450"/>
                  </a:lnTo>
                  <a:lnTo>
                    <a:pt x="9906000" y="209550"/>
                  </a:lnTo>
                </a:path>
              </a:pathLst>
            </a:custGeom>
            <a:noFill/>
            <a:ln w="28575">
              <a:solidFill>
                <a:srgbClr val="C7873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286375" y="4257675"/>
              <a:ext cx="95250" cy="95250"/>
            </a:xfrm>
            <a:prstGeom prst="ellipse">
              <a:avLst/>
            </a:prstGeom>
            <a:solidFill>
              <a:srgbClr val="C787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04023" y="2719864"/>
              <a:ext cx="18444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b="1" dirty="0">
                  <a:solidFill>
                    <a:srgbClr val="C7873A"/>
                  </a:solidFill>
                  <a:latin typeface="+mj-lt"/>
                  <a:ea typeface="+mj-ea"/>
                  <a:cs typeface="+mj-cs"/>
                </a:rPr>
                <a:t>Regime 2 · 减雨在前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05547" y="298084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前 2 天降雨骤减、事件初被抑制，3 天后回归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38238" y="3636645"/>
            <a:ext cx="718299" cy="842962"/>
            <a:chOff x="1138238" y="3636645"/>
            <a:chExt cx="718299" cy="842962"/>
          </a:xfrm>
        </p:grpSpPr>
        <p:sp>
          <p:nvSpPr>
            <p:cNvPr id="25" name="TextBox 25"/>
            <p:cNvSpPr txBox="1"/>
            <p:nvPr/>
          </p:nvSpPr>
          <p:spPr>
            <a:xfrm>
              <a:off x="1138238" y="3636645"/>
              <a:ext cx="71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降雨正距平 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8238" y="4303395"/>
              <a:ext cx="71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降雨负距平 ↓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6666" y="5868352"/>
            <a:ext cx="10678287" cy="617887"/>
            <a:chOff x="756666" y="5868352"/>
            <a:chExt cx="10678287" cy="617887"/>
          </a:xfrm>
        </p:grpSpPr>
        <p:sp>
          <p:nvSpPr>
            <p:cNvPr id="28" name="TextBox 28"/>
            <p:cNvSpPr txBox="1"/>
            <p:nvPr/>
          </p:nvSpPr>
          <p:spPr>
            <a:xfrm>
              <a:off x="756666" y="5868352"/>
              <a:ext cx="6945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示意曲线（据论文图3合成描述）。Regime 3 在事件前 6 天持续偏湿，Day +3 出现降雨峰值、热浪随之消散。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7199376" cy="1097280"/>
            <a:chOff x="746760" y="741045"/>
            <a:chExt cx="7199376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1251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09 — 发现三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71993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极端强度相近，健康威胁却各不相同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4074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FINDING 3 · SAME Twb, DIFFERENT HEALTH RISK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62000" y="2190750"/>
            <a:ext cx="6489984" cy="619506"/>
            <a:chOff x="762000" y="2190750"/>
            <a:chExt cx="6489984" cy="619506"/>
          </a:xfrm>
        </p:grpSpPr>
        <p:sp>
          <p:nvSpPr>
            <p:cNvPr id="7" name="Line 7"/>
            <p:cNvSpPr/>
            <p:nvPr/>
          </p:nvSpPr>
          <p:spPr>
            <a:xfrm>
              <a:off x="762000" y="21907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504" y="2327910"/>
              <a:ext cx="6267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三种机制下，极端事件的最高湿球温度接近（Twb 约 25–26°C，热指数 33–35°C），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504" y="2575560"/>
              <a:ext cx="3905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但达到这一强度的"路径"和对健康的意义，因地而异。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048000"/>
            <a:ext cx="10926013" cy="1905000"/>
            <a:chOff x="762000" y="3048000"/>
            <a:chExt cx="10926013" cy="1905000"/>
          </a:xfrm>
        </p:grpSpPr>
        <p:sp>
          <p:nvSpPr>
            <p:cNvPr id="11" name="Rectangle 11"/>
            <p:cNvSpPr/>
            <p:nvPr/>
          </p:nvSpPr>
          <p:spPr>
            <a:xfrm>
              <a:off x="762000" y="3048000"/>
              <a:ext cx="3352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1C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3048000"/>
              <a:ext cx="57150" cy="1905000"/>
            </a:xfrm>
            <a:prstGeom prst="rect">
              <a:avLst/>
            </a:prstGeom>
            <a:solidFill>
              <a:srgbClr val="2E6FB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9180" y="3286125"/>
              <a:ext cx="1500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rgbClr val="2E6FB0"/>
                  </a:solidFill>
                  <a:latin typeface="+mj-lt"/>
                  <a:ea typeface="+mj-ea"/>
                  <a:cs typeface="+mj-cs"/>
                </a:rPr>
                <a:t>Regime 1 地区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1466" y="3677602"/>
              <a:ext cx="2176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气候炎热干旱，季内均 Twb≈22°C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1466" y="39443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需要湿度大幅上升才成灾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466" y="43253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人群或更适应高温、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466" y="4553902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对"异常湿度"更敏感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19600" y="3048000"/>
              <a:ext cx="3352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1C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19600" y="3048000"/>
              <a:ext cx="57150" cy="1905000"/>
            </a:xfrm>
            <a:prstGeom prst="rect">
              <a:avLst/>
            </a:prstGeom>
            <a:solidFill>
              <a:srgbClr val="C787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16780" y="3286125"/>
              <a:ext cx="1500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rgbClr val="C7873A"/>
                  </a:solidFill>
                  <a:latin typeface="+mj-lt"/>
                  <a:ea typeface="+mj-ea"/>
                  <a:cs typeface="+mj-cs"/>
                </a:rPr>
                <a:t>Regime 2 地区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19066" y="3677602"/>
              <a:ext cx="2416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气候更凉更湿，季内均 Twb≈24–25°C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19066" y="39443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需要气温大幅上升才成灾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19066" y="4325302"/>
              <a:ext cx="1659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绝对 Twb 与热指数最高；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19066" y="4553902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高温+中湿对健康更危险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77200" y="3048000"/>
              <a:ext cx="3352800" cy="190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4380" y="328612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共同的隐忧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666" y="36776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危险 / 极度危险级热指数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666" y="39062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在三种机制中都很常见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6666" y="428720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34% 的极端事件，前 7 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6666" y="4515802"/>
              <a:ext cx="33113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已有一次热浪"预热"（受 ENSO 等年际变率影响）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6285" y="5715000"/>
            <a:ext cx="10678668" cy="771239"/>
            <a:chOff x="756285" y="5715000"/>
            <a:chExt cx="10678668" cy="771239"/>
          </a:xfrm>
        </p:grpSpPr>
        <p:sp>
          <p:nvSpPr>
            <p:cNvPr id="32" name="Line 32"/>
            <p:cNvSpPr/>
            <p:nvPr/>
          </p:nvSpPr>
          <p:spPr>
            <a:xfrm>
              <a:off x="762000" y="5715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6285" y="5974556"/>
              <a:ext cx="62233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威胁大小还取决于当地人群更适应高温还是高湿、以及对"绝对极端"还是"异常极端"更脆弱。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6751320" cy="1097280"/>
            <a:chOff x="746760" y="741045"/>
            <a:chExt cx="6751320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P · 10 — 意义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67513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从机理到预警：能救命的应用价值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4385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IMPLICATIONS · TOWARDS EARLY WARNING SYSTEMS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46760" y="2412682"/>
            <a:ext cx="10302240" cy="791052"/>
            <a:chOff x="746760" y="2412682"/>
            <a:chExt cx="10302240" cy="791052"/>
          </a:xfrm>
        </p:grpSpPr>
        <p:sp>
          <p:nvSpPr>
            <p:cNvPr id="7" name="TextBox 7"/>
            <p:cNvSpPr txBox="1"/>
            <p:nvPr/>
          </p:nvSpPr>
          <p:spPr>
            <a:xfrm>
              <a:off x="746760" y="2457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3A3530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26479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5618" y="2412682"/>
              <a:ext cx="22346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可用卫星数据来预测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2983706"/>
              <a:ext cx="63816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降雨与地表水分是关键前兆——用近实时的卫星降雨 / 土壤湿度观测，有望提前识别湿热浪风险。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6760" y="3536632"/>
            <a:ext cx="10302240" cy="791052"/>
            <a:chOff x="746760" y="3536632"/>
            <a:chExt cx="10302240" cy="791052"/>
          </a:xfrm>
        </p:grpSpPr>
        <p:sp>
          <p:nvSpPr>
            <p:cNvPr id="12" name="TextBox 12"/>
            <p:cNvSpPr txBox="1"/>
            <p:nvPr/>
          </p:nvSpPr>
          <p:spPr>
            <a:xfrm>
              <a:off x="746760" y="35814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3A3530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428750" y="377190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5618" y="3536632"/>
              <a:ext cx="20128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预警要"因地制宜"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4107656"/>
              <a:ext cx="6019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水分受限区盯"增雨"，能量受限区盯"连续减雨+晴空"——同一套指标不能照搬到所有地区。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6760" y="4660582"/>
            <a:ext cx="10302240" cy="791052"/>
            <a:chOff x="746760" y="4660582"/>
            <a:chExt cx="10302240" cy="791052"/>
          </a:xfrm>
        </p:grpSpPr>
        <p:sp>
          <p:nvSpPr>
            <p:cNvPr id="17" name="TextBox 17"/>
            <p:cNvSpPr txBox="1"/>
            <p:nvPr/>
          </p:nvSpPr>
          <p:spPr>
            <a:xfrm>
              <a:off x="746760" y="47053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3A3530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428750" y="48958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15618" y="4660582"/>
              <a:ext cx="3220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下一步：走向小时级、近实时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285" y="5231606"/>
              <a:ext cx="5891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当前基于日尺度；作者提出将分析拓展到小时尺度，为脆弱社区争取更宝贵的预警时间。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6285" y="5841206"/>
            <a:ext cx="10678668" cy="645033"/>
            <a:chOff x="756285" y="5841206"/>
            <a:chExt cx="10678668" cy="645033"/>
          </a:xfrm>
        </p:grpSpPr>
        <p:sp>
          <p:nvSpPr>
            <p:cNvPr id="22" name="TextBox 22"/>
            <p:cNvSpPr txBox="1"/>
            <p:nvPr/>
          </p:nvSpPr>
          <p:spPr>
            <a:xfrm>
              <a:off x="756285" y="5841206"/>
              <a:ext cx="5579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i="1" dirty="0">
                  <a:solidFill>
                    <a:srgbClr val="8A8378"/>
                  </a:solidFill>
                  <a:latin typeface="+mj-lt"/>
                  <a:ea typeface="+mj-ea"/>
                  <a:cs typeface="+mj-cs"/>
                </a:rPr>
                <a:t>"我们既要紧急削减温室气体排放，也需要更好的湿热预警系统。"　— 研究团队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6B645A"/>
                  </a:solidFill>
                  <a:latin typeface="+mj-lt"/>
                  <a:ea typeface="+mj-ea"/>
                  <a:cs typeface="+mj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4062984" cy="1097280"/>
            <a:chOff x="746760" y="741045"/>
            <a:chExt cx="4062984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11 — 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4062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审慎之处与研究局限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2035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CAVEATS &amp; LIMITATIONS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53999" y="2363629"/>
            <a:ext cx="4961001" cy="1373505"/>
            <a:chOff x="753999" y="2363629"/>
            <a:chExt cx="4961001" cy="1373505"/>
          </a:xfrm>
        </p:grpSpPr>
        <p:sp>
          <p:nvSpPr>
            <p:cNvPr id="7" name="TextBox 7"/>
            <p:cNvSpPr txBox="1"/>
            <p:nvPr/>
          </p:nvSpPr>
          <p:spPr>
            <a:xfrm>
              <a:off x="753999" y="2363629"/>
              <a:ext cx="11958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数据的局限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7051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285" y="2945606"/>
              <a:ext cx="228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ERA5 在区域尺度存在已知偏差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231356"/>
              <a:ext cx="27390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对 Regime 1、2 的 2m 气温存在冷偏差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517106"/>
              <a:ext cx="3050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已用 HadISD 站点数据交叉验证，趋势一致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68999" y="2363629"/>
            <a:ext cx="4961001" cy="1373505"/>
            <a:chOff x="6468999" y="2363629"/>
            <a:chExt cx="4961001" cy="1373505"/>
          </a:xfrm>
        </p:grpSpPr>
        <p:sp>
          <p:nvSpPr>
            <p:cNvPr id="13" name="TextBox 13"/>
            <p:cNvSpPr txBox="1"/>
            <p:nvPr/>
          </p:nvSpPr>
          <p:spPr>
            <a:xfrm>
              <a:off x="6468999" y="2363629"/>
              <a:ext cx="11958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指标的局限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477000" y="27051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71285" y="2945606"/>
              <a:ext cx="2766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Twb 是复合量，需区分温度与湿度贡献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1285" y="3231356"/>
              <a:ext cx="27609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35°C 阈值可能低估真实健康影响范围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1285" y="3517106"/>
              <a:ext cx="2846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湿度对健康结局的作用仍有流行病学争议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3999" y="4078129"/>
            <a:ext cx="10676001" cy="1087755"/>
            <a:chOff x="753999" y="4078129"/>
            <a:chExt cx="10676001" cy="1087755"/>
          </a:xfrm>
        </p:grpSpPr>
        <p:sp>
          <p:nvSpPr>
            <p:cNvPr id="19" name="TextBox 19"/>
            <p:cNvSpPr txBox="1"/>
            <p:nvPr/>
          </p:nvSpPr>
          <p:spPr>
            <a:xfrm>
              <a:off x="753999" y="4078129"/>
              <a:ext cx="11958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范围的局限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419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6285" y="4660106"/>
              <a:ext cx="38687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66% 网格关系不显著、Regime 0 极少见，均未深入探讨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6285" y="4945856"/>
              <a:ext cx="4203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在极湿区（如刚果盆地），调控干球温度的因子比降雨更重要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5391150"/>
            <a:ext cx="10668000" cy="533400"/>
            <a:chOff x="762000" y="5391150"/>
            <a:chExt cx="106680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5391150"/>
              <a:ext cx="10668000" cy="533400"/>
            </a:xfrm>
            <a:prstGeom prst="rect">
              <a:avLst/>
            </a:prstGeom>
            <a:solidFill>
              <a:srgbClr val="EAE3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4885" y="5593556"/>
              <a:ext cx="6193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这些边界不削弱主结论，而是提醒：把机制用于业务预警时，需结合本地观测与人群脆弱性。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830057" y="6295549"/>
            <a:ext cx="604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980" spc="150" dirty="0">
                <a:solidFill>
                  <a:srgbClr val="A8A093"/>
                </a:solidFill>
                <a:latin typeface="+mj-lt"/>
                <a:ea typeface="+mj-ea"/>
                <a:cs typeface="+mj-cs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762750"/>
              <a:ext cx="12192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57047" y="961549"/>
            <a:ext cx="2528265" cy="267176"/>
            <a:chOff x="757047" y="961549"/>
            <a:chExt cx="2528265" cy="267176"/>
          </a:xfrm>
        </p:grpSpPr>
        <p:sp>
          <p:nvSpPr>
            <p:cNvPr id="5" name="TextBox 5"/>
            <p:cNvSpPr txBox="1"/>
            <p:nvPr/>
          </p:nvSpPr>
          <p:spPr>
            <a:xfrm>
              <a:off x="757047" y="961549"/>
              <a:ext cx="25282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300" dirty="0">
                  <a:solidFill>
                    <a:srgbClr val="F0C9C3"/>
                  </a:solidFill>
                  <a:latin typeface="+mn-lt"/>
                  <a:ea typeface="+mn-ea"/>
                  <a:cs typeface="+mn-cs"/>
                </a:rPr>
                <a:t>一页记住 · KEY TAKEAWAYS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2192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F5F1E8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04850" y="1674495"/>
            <a:ext cx="9357665" cy="762000"/>
            <a:chOff x="704850" y="1674495"/>
            <a:chExt cx="9357665" cy="762000"/>
          </a:xfrm>
        </p:grpSpPr>
        <p:sp>
          <p:nvSpPr>
            <p:cNvPr id="8" name="TextBox 8"/>
            <p:cNvSpPr txBox="1"/>
            <p:nvPr/>
          </p:nvSpPr>
          <p:spPr>
            <a:xfrm>
              <a:off x="704850" y="1674495"/>
              <a:ext cx="935766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9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近期降雨，是热带湿热浪的关键开关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2856" y="2739390"/>
            <a:ext cx="5677251" cy="1723644"/>
            <a:chOff x="752856" y="2739390"/>
            <a:chExt cx="5677251" cy="1723644"/>
          </a:xfrm>
        </p:grpSpPr>
        <p:sp>
          <p:nvSpPr>
            <p:cNvPr id="10" name="TextBox 10"/>
            <p:cNvSpPr txBox="1"/>
            <p:nvPr/>
          </p:nvSpPr>
          <p:spPr>
            <a:xfrm>
              <a:off x="752856" y="27393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2787968"/>
              <a:ext cx="4402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降雨与湿热浪在全球热带 / 副热带存在统计显著关系。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856" y="31965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142" y="32451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水分受限区：增雨触发；能量受限区：连续减雨触发。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856" y="36537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6142" y="3702368"/>
              <a:ext cx="5293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开关本质：地表蒸发对土壤湿度 vs 短波辐射的敏感度（ELI）。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856" y="41109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6142" y="4159568"/>
              <a:ext cx="465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价值：卫星降雨+土壤湿度，可支撑因地制宜的湿热预警。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5523" y="4876800"/>
            <a:ext cx="10679430" cy="1063561"/>
            <a:chOff x="755523" y="4876800"/>
            <a:chExt cx="10679430" cy="1063561"/>
          </a:xfrm>
        </p:grpSpPr>
        <p:sp>
          <p:nvSpPr>
            <p:cNvPr id="19" name="Line 19"/>
            <p:cNvSpPr/>
            <p:nvPr/>
          </p:nvSpPr>
          <p:spPr>
            <a:xfrm>
              <a:off x="762000" y="48768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6A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5523" y="5158264"/>
              <a:ext cx="4778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Jackson, Birch, Chagnaud, Marsham &amp; Taylor (2025)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5433060"/>
              <a:ext cx="6244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F5E6E3"/>
                  </a:solidFill>
                  <a:latin typeface="+mj-lt"/>
                  <a:ea typeface="+mj-ea"/>
                  <a:cs typeface="+mj-cs"/>
                </a:rPr>
                <a:t>Nature Communications 16, 3461　·　DOI: 10.1038/s41467-025-58694-6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6666" y="5735002"/>
              <a:ext cx="56478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F0C9C3"/>
                  </a:solidFill>
                  <a:latin typeface="+mn-lt"/>
                  <a:ea typeface="+mn-ea"/>
                  <a:cs typeface="+mn-cs"/>
                </a:rPr>
                <a:t>University of Leeds · UK Centre for Ecology and Hydrology　|　开放获取 CC-BY 4.0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30057" y="574309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F0C9C3"/>
                  </a:solidFill>
                  <a:latin typeface="+mj-lt"/>
                  <a:ea typeface="+mj-ea"/>
                  <a:cs typeface="+mj-c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umid_heatwaves_paper">
  <a:themeElements>
    <a:clrScheme name="humid_heatwaves_paper">
      <a:dk1>
        <a:srgbClr val="1A1714"/>
      </a:dk1>
      <a:lt1>
        <a:srgbClr val="F5F1E8"/>
      </a:lt1>
      <a:dk2>
        <a:srgbClr val="1A1714"/>
      </a:dk2>
      <a:lt2>
        <a:srgbClr val="F5F1E8"/>
      </a:lt2>
      <a:accent1>
        <a:srgbClr val="1A1714"/>
      </a:accent1>
      <a:accent2>
        <a:srgbClr val="B23A2E"/>
      </a:accent2>
      <a:accent3>
        <a:srgbClr val="B23A2E"/>
      </a:accent3>
      <a:accent4>
        <a:srgbClr val="1A1714"/>
      </a:accent4>
      <a:accent5>
        <a:srgbClr val="4BACC6"/>
      </a:accent5>
      <a:accent6>
        <a:srgbClr val="F79646"/>
      </a:accent6>
      <a:hlink>
        <a:srgbClr val="B23A2E"/>
      </a:hlink>
      <a:folHlink>
        <a:srgbClr val="B23A2E"/>
      </a:folHlink>
    </a:clrScheme>
    <a:fontScheme name="humid_heatwaves_paper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mid_heatwaves_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zh-Hans</dc:language>
  <cp:lastModifiedBy/>
  <cp:revision>1</cp:revision>
  <dcterms:created xsi:type="dcterms:W3CDTF">2026-07-30T08:50:04Z</dcterms:created>
  <dcterms:modified xsi:type="dcterms:W3CDTF">2026-07-30T08:50:04Z</dcterms:modified>
  <cp:category/>
  <cp:contentStatus/>
</cp:coreProperties>
</file>